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88952" cy="7315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Voice Coaching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AEC7E8"/>
                </a:solidFill>
              </a:rPr>
              <a:t>for Singing Performance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CCDD"/>
                </a:solidFill>
              </a:rPr>
              <a:t>Reference-guided pipeline  ·  Three-model architecture  ·  Deterministic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GTSinger Dataset  ·  MusicXML + TextGrid  ·  PyTorch / Wav2Vec2 / torchcrepe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EC7E8"/>
                </a:solidFill>
              </a:rPr>
              <a:t>IMAPLE Lab  ·  Drexel University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Audio in → feature extraction → compare to reference → score → interpret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577840" cy="1737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52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70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WAV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16 kHz mono singing recording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5577840" cy="17373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26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44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Pitch (F0 + voiced mask)
Note onset/offset times
Phoneme boundaries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46320"/>
            <a:ext cx="5577840" cy="1737360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Reference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009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MusicXML → note pitch, onset, offset, tempo
TextGrid → phoneme &amp; word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5577840" cy="173736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152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1170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Metric Computation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159105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Pitch error · Timing error
Duration error · Phoneme error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5577840" cy="173736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30266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044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Scoring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46557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Piecewise normalise → Category scores
→ Final score [0–100]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5577840" cy="1737360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4901183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919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5340096"/>
            <a:ext cx="493776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Strengths  ·  Weaknesses
Rule-based coaching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834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Parameters We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What the system extracts from audio and reads from reference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577840" cy="566928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Performance Side  (extracted from WAV)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179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5544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f̂ₜ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5544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Frame-level Fundamental Frequency (F0)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9019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Estimated sung pitch at every frame · units: Hz · 0 = unvoiced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4323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4688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v̂ₜ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4688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Voiced / Unvoiced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8163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 = singing frame · 0 = silence / breath
Gates pitch scoring — only voiced frames are evaluated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33467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33832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ŝₙ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3832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Note Onset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7307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start time of note n (seconds)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2611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42976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êₙ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2976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Note Offset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6451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end time of note n (seconds)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175504"/>
            <a:ext cx="5321808" cy="82296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521208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</a:rPr>
              <a:t>âₚ, b̂ₚ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212080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Phoneme Boundaries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5595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Predicted start &amp; end times for each phoneme p (seconds)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051560"/>
            <a:ext cx="5897880" cy="5669280"/>
          </a:xfrm>
          <a:prstGeom prst="rect">
            <a:avLst/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Reference Side  (from MusicXML + TextGrid)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1481328"/>
            <a:ext cx="5669280" cy="31089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5179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MusicXML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828800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mₙ  —  MIDI pitch of reference note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139696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rₙ = 440 · 2^((mₙ−69)/12)  —  reference frequency (Hz)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2450591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sₙ  —  Reference note onset time (seconds)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761487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eₙ  —  Reference note offset time (seconds)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072383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dₙ = eₙ − sₙ  —  Reference note 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383279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tempo (BPM), time signature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3785615"/>
            <a:ext cx="5669280" cy="310896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3822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TextGrid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133087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aₚ  —  Reference phoneme start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443983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bₚ  —  Reference phoneme end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754879"/>
            <a:ext cx="5669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Word-level boundary times for lyric scoring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6510528"/>
            <a:ext cx="11704320" cy="347472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5471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A5C"/>
                </a:solidFill>
              </a:rPr>
              <a:t>Voiced set:  V  =  { t : f̂ₜ &gt; 0  and  rₜ &gt; 0 }  —  frames where both sung voice and reference are voiced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Four pitch metrics computed from AlignmentResult · tolerance τ = 50¢ (config: metrics.pitch.cents_tolerance)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Pitch Accuracy  (pitch_accuracy)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3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9961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pitch_accuracy  =  mean( |dev| ≤ τ )  over all matched notes with valid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48256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Fraction of matched note pairs whose pitch deviation is within tolerance.
dev = NoteAlignmentMatch.pitch_deviation_cents  (positive = predicted is sharper).
Returns None when no matched note has pitch data.  Higher is better.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78992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Mean Absolute Cent Error  (mace_cents)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46303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9961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MACE  =  mean( |dev| )  over all matched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48256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Average absolute pitch deviation in cents — no tolerance threshold needed.
Scoring breakpoints: 0¢→100,  25¢→88,  50¢→75,  100¢→50,  200¢→0.
(50¢ ≈ quarter-tone;  100¢ = 1 semitone)   Lower is better.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67911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67911"/>
            <a:ext cx="566928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044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Pitch RMSE  (pitch_rmse_cents)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5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28853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PitchRMSE  =  √( mean( dev² )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837175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Root-mean-square cent error — penalises large deviations more heavily than MACE.
Scoring breakpoints: 0¢→100,  25¢→88,  50¢→72,  100¢→45,  200¢→0.
More sensitive to occasional large pitch jumps.   Lower is better.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67911"/>
            <a:ext cx="5669280" cy="2670048"/>
          </a:xfrm>
          <a:prstGeom prst="rect">
            <a:avLst/>
          </a:prstGeom>
          <a:solidFill>
            <a:srgbClr val="F0F5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67911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9044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Note-Level Pitch Accuracy  (note_pitch_accuracy)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51959"/>
            <a:ext cx="5486400" cy="512064"/>
          </a:xfrm>
          <a:prstGeom prst="rect">
            <a:avLst/>
          </a:prstGeom>
          <a:solidFill>
            <a:srgbClr val="E0EAF8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288536"/>
            <a:ext cx="53400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3A5C"/>
                </a:solidFill>
              </a:rPr>
              <a:t>note_pitch_accuracy  =  accuracy   (set equal to pitch_accuracy in build_pitch_metrics())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837175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Same numeric value as pitch_accuracy — build_pitch_metrics() sets both to the same result.
Per-note detail is stored separately in PitchMetrics.per_note (List[MetricBreakdown]).
Coaching interpretation: '% of notes sung in tune.'   Higher is better.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Onset/offset error and IOI consistency · tolerance τ = 50 ms (config: metrics.timing.onset_tolerance_ms)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Onset Error  (mean_onset_error_ms)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39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499616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mean_onset_error_ms  =  mean( onset_dev_s × 1000 )  in ms
std_onset_error_ms   =  std( onset_dev_s × 1000 )
mean_abs_onset_error_ms  =  mean( |onset_dev_s| × 1000 )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94560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Signed deviation: positive = predicted is LATER than reference.
All three stats reported — mean (bias), std (consistency), MAE (accuracy).
Scoring uses MAE breakpoints: 0→100, 25→88, 50→75, 100→50, 200→0 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78992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Offset Error  (mean_offset_error_ms)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463039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99616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mean_offset_error_ms      =  mean( offset_dev_s × 1000 )
mean_abs_offset_error_ms  =  mean( |offset_dev_s| × 1000 )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Whether the singer releases notes too early or too late.
Only mean and MAE reported (not std); contributes to timing category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95344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95344"/>
            <a:ext cx="5669280" cy="32918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Timing Accuracy  (timing_accuracy)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79392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4315968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timing_accuracy  =  mean( |onset_dev_s| × 1000 ≤ τ )   τ = 50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010912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Fraction of notes started within 50 ms of the reference onset.
Primary timing accuracy component — weight 0.50 in timing category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95344"/>
            <a:ext cx="5669280" cy="2706624"/>
          </a:xfrm>
          <a:prstGeom prst="rect">
            <a:avLst/>
          </a:prstGeom>
          <a:solidFill>
            <a:srgbClr val="F0FBF0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895344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IOI MAE  (ioi_mae_ms)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79392"/>
            <a:ext cx="5486400" cy="658368"/>
          </a:xfrm>
          <a:prstGeom prst="rect">
            <a:avLst/>
          </a:prstGeom>
          <a:solidFill>
            <a:srgbClr val="E0F4E0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315968"/>
            <a:ext cx="534009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IOI-MAE  =  mean( |pred_IOI[i] − ref_IOI[i]| × 1000 )
where IOI[i] = onset[i+1] − onset[i]  for i = 0 … min(N_pred, N_ref)−2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010912"/>
            <a:ext cx="5486400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Inter-onset interval consistency — measures rhythmic stability.
Breakpoints: 0→100, 30→88, 60→75, 120→50, 240→0 ms.
Combined with onset std-dev into 'rhythm stability' component (weight 0.20).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Metrics — Duration &amp; Lyric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Duration accuracy and phoneme boundary timing · from DurationMetrics and LyricMetrics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577840" cy="566928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115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F0E"/>
                </a:solidFill>
              </a:rPr>
              <a:t>Duration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3619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Duration Error  (mean_abs_duration_error_s)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0195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error = pred_dur − ref_dur
mean_duration_error_s     = mean(error)
mean_abs_duration_error_s = mean(|error|)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3230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Absolute difference between predicted and reference note duration.
Singer can start correctly but still hold too short or too long.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22783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28269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Relative Duration Error  (mean_relative_duration_error)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59359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RelErr  =  mean( |pred_dur − ref_dur| / ref_dur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4123944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Tempo-independent: 100 ms error matters more on a 200 ms note
than on a 2 s note.  Primary component weight: 0.60.
Breakpoints: 0→100, 0.1→90, 0.2→75, 0.5→50, 1.0→0.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919472"/>
            <a:ext cx="5321808" cy="160934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974336"/>
            <a:ext cx="5138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0E"/>
                </a:solidFill>
              </a:rPr>
              <a:t>Duration Ratio  (mean_duration_ratio)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5285232"/>
            <a:ext cx="5138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DurRatio  =  mean( pred_dur / ref_dur )
RatioDev  =  |DurRatio − 1.0|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5815583"/>
            <a:ext cx="5138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1.0 = perfect  |  &gt;1.0 = stretched  |  &lt;1.0 = cut short.
Component weight: 0.20.  Breakpoints (on |ratio−1|): 0→100, 0.1→90,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051560"/>
            <a:ext cx="5897880" cy="5669280"/>
          </a:xfrm>
          <a:prstGeom prst="rect">
            <a:avLst/>
          </a:prstGeom>
          <a:solidFill>
            <a:srgbClr val="F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115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3D9A"/>
                </a:solidFill>
              </a:rPr>
              <a:t>Lyric / Phoneme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536192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5819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Phoneme Boundary Error  (mean_abs_phoneme_boundary_error_ms)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88366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mae  =  mean( |phoneme_onset_dev_s| × 1000 )
for all PhonemeAlignmentMatch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2494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Positive deviation = predicted phoneme starts later than reference.
Breakpoints: 0→100, 15→88, 30→75, 60→50, 120→0 ms.
Component weight in lyric score: 0.15.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2834639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880359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Phoneme Overlap Accuracy  (phoneme_overlap_accuracy)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182111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overlap_acc  =  fraction where overlap_fraction ≥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547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Whether the predicted phoneme segment significantly overlaps the reference.
Component weight: 0.25.  Higher is better.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4133087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417880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Word Alignment Accuracy  (word_alignment_accuracy)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480559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word_acc  =  |matched_words| / |total_ref_words|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Fraction of reference words that matched a predicted word event.
Component weight: 0.35 — highest weight in lyric category.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5431536"/>
            <a:ext cx="5669280" cy="1225296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547725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3D9A"/>
                </a:solidFill>
              </a:rPr>
              <a:t>Label Match Rate  (label_match_rate)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7790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3A5C"/>
                </a:solidFill>
              </a:rPr>
              <a:t>label_match  =  fraction where phoneme_label identical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6144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Correct phoneme label predicted (not just timing).
Component weight: 0.25.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All raw metrics are converted to [0, 100] via piecewise-linear curves tuned to musical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97280"/>
            <a:ext cx="3794760" cy="310896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bounded_score(value, lower, upper)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S  =  100 · clip( (upper − value) / (upper − lower),  0, 1 )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Linear clamp.  lower = best (→100), upper = worst (→0).
Available but not called in default scoring — accuracy fractions
are converted directly as  score = accuracy × 100.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794760" cy="310896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piecewise_score(value, breakpoints)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Piecewise-linear interpolation through (x, score) breakpoint 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x-values ascending, clamped at both ends.
Used for all error-based metrics (MACE, onset MAE, phoneme boundary error…).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097280"/>
            <a:ext cx="379476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794760" cy="31089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133856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gaussian_penalty(value, sigma)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463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S  =  100 · exp( −value² / (2σ²)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920240"/>
            <a:ext cx="361188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Smooth Gaussian decay from 0.  Available mode but not used
in current default scoring configuration.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333756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Implemented Piecewise Breakpoints  (from source code)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30752"/>
            <a:ext cx="237744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3767328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730752"/>
            <a:ext cx="502920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3767328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Breakpoints (x → score)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3730752"/>
            <a:ext cx="4297680" cy="329184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3767328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059936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" y="4096512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MACE (cents)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059936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4096512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50→75 · 100→50 · 200→0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4059936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0104" y="4096512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50¢ ≈ quarter-tone · 100¢ = 1 semitone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389120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" y="4425696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Pitch RMSE (cents)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4389120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4425696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50→72 · 100→45 · 200→0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4389120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4425696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Stricter than MACE at 50¢+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718304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" y="4754880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MAE (ms)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4718304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60904" y="4754880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25→88 · 50→75 · 100→50 · 200→0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4718304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0104" y="4754880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50 ms = one timing tolerance window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5047488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" y="5084064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IOI MAE (ms)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5047488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60904" y="5084064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30→88 · 60→75 · 120→50 · 240→0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5047488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90104" y="5084064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Slightly more lenient than onset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376672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" y="5413248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Std-Dev (ms)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06040" y="5376672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60904" y="5413248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30→88 · 60→72 · 120→45 · 240→0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35240" y="5376672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90104" y="5413248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Rhythmic consistency measurement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5705856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" y="5742432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Relative Duration Error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06040" y="5705856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60904" y="5742432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0.1→90 · 0.2→75 · 0.5→50 · 1.0→0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35240" y="5705856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90104" y="5742432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Dimensionless; tempo-independent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6035040"/>
            <a:ext cx="237744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6071616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Duration Ratio Dev (|ratio−1|)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06040" y="6035040"/>
            <a:ext cx="502920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60904" y="6071616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0.1→90 · 0.25→75 · 0.5→50 · 1.0→0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35240" y="6035040"/>
            <a:ext cx="4297680" cy="329184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90104" y="6071616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 = perfect · 0.5 = 50% off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6364224"/>
            <a:ext cx="23774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3464" y="6400800"/>
            <a:ext cx="22677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Phoneme Boundary MAE (ms)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06040" y="6364224"/>
            <a:ext cx="50292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60904" y="6400800"/>
            <a:ext cx="491947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0→100 · 15→88 · 30→75 · 60→50 · 120→0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6364224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90104" y="6400800"/>
            <a:ext cx="418795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Stricter than note timing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Category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Four scoring functions · all use confidence-weighted aggregation  (confidence = min(1, n_evaluated/3))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669280" cy="32918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Pitch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48132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Accuracy (pitch_accuracy)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5361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1956815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011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Intonation — MACE (mace_cents)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116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243230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Stability — RMSE (pitch_rmse_cents)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4871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F77B4"/>
                </a:solidFill>
              </a:rPr>
              <a:t>w=0.20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296265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299923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F77B4"/>
                </a:solidFill>
              </a:rPr>
              <a:t>scoring/pitch_scoring.py · compute_pitch_score()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7899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078992"/>
            <a:ext cx="5669280" cy="329184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Timing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148132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Timing Accuracy (timing_accuracy)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53619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1956815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011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Onset MAE (mean_abs_onset_error_ms)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01167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243230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Rhythm Stability — IOI + std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48716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CA02C"/>
                </a:solidFill>
              </a:rPr>
              <a:t>w=0.20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96265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99923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A02C"/>
                </a:solidFill>
              </a:rPr>
              <a:t>scoring/timing_scoring.py · compute_timing_score()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91363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3913632"/>
            <a:ext cx="5669280" cy="32918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Duration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" y="431596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370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Relative Error (mean_relative_duration_error)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43708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w=0.60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" y="4791456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Ratio Dev (|mean_duration_ratio − 1|)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846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" y="526694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Phrase Consistency — std + rel error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5321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7F0E"/>
                </a:solidFill>
              </a:rPr>
              <a:t>w=0.20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" y="5797296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5833872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7F0E"/>
                </a:solidFill>
              </a:rPr>
              <a:t>scoring/duration_scoring.py · compute_duration_score()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913632"/>
            <a:ext cx="56692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913632"/>
            <a:ext cx="5669280" cy="329184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Lyric Score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4315968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43708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Word Alignment (word_alignment_accuracy)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43708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w=0.35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4791456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Phoneme Overlap (phoneme_overlap_accuracy)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0" y="48463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5266944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19088" y="5321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Label Match (label_match_rate)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53218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27648" y="5742432"/>
            <a:ext cx="5449824" cy="4023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5797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Boundary Timing (mean_abs_phoneme_boundary_error_ms)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58400" y="5797296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A3D9A"/>
                </a:solidFill>
              </a:rPr>
              <a:t>w=0.15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7648" y="6272784"/>
            <a:ext cx="5449824" cy="347472"/>
          </a:xfrm>
          <a:prstGeom prst="rect">
            <a:avLst/>
          </a:prstGeom>
          <a:solidFill>
            <a:srgbClr val="EEEE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9088" y="6309360"/>
            <a:ext cx="52669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3D9A"/>
                </a:solidFill>
              </a:rPr>
              <a:t>scoring/lyric_scoring.py · compute_lyric_clarity_score()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Scoring — Final Score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Confidence-weighted aggregation  ·  deterministic rule-based feedback  ·  no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5214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S_Final  =  0.40 · S_Pitch  +  0.30 · S_Timing  +  0.15 · S_Duration  +  0.15 · S_Lyric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EC7E8"/>
                </a:solidFill>
              </a:rPr>
              <a:t>Weights: Pitch (40%)  ·  Timing (30%)  ·  Duration (15%)  ·  Lyric (15%)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11430000" cy="603504"/>
          </a:xfrm>
          <a:prstGeom prst="rect">
            <a:avLst/>
          </a:prstGeom>
          <a:solidFill>
            <a:srgbClr val="F0F5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Confidence-weighted aggregation  (from performance_scoring.py):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3A5C"/>
                </a:solidFill>
              </a:rPr>
              <a:t>overall = Σ( category_score · nominal_weight · confidence ) / Σ( nominal_weight · confidence )   where   confidence = min(1.0, n_evaluated / 3.0)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Score Interpretation  (scoring/interpretation.py — rule-based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82112"/>
            <a:ext cx="146304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3218688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Score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182112"/>
            <a:ext cx="164592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3218688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182112"/>
            <a:ext cx="8321040" cy="43891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3218688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Coaching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21024"/>
            <a:ext cx="1463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3657600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621024"/>
            <a:ext cx="16459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83664" y="3657600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excellent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621024"/>
            <a:ext cx="8321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3657600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Performance-ready — only minor refinements needed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59935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4096511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59935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83664" y="4096511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4059935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4096511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Mostly correct — a few targeted corrections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98848"/>
            <a:ext cx="1463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535424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≥ 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498848"/>
            <a:ext cx="164592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83664" y="4535424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fair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498848"/>
            <a:ext cx="8321040" cy="43891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9584" y="4535424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Noticeable issues that require focused practice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937760"/>
            <a:ext cx="1463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4974336"/>
            <a:ext cx="1353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&lt; 55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937760"/>
            <a:ext cx="16459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83664" y="4974336"/>
            <a:ext cx="153619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needs_work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4937760"/>
            <a:ext cx="83210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4974336"/>
            <a:ext cx="821131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Focused coaching needed before full-song practice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65776"/>
            <a:ext cx="11430000" cy="168249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Feedback messages (all rule-based, static lookup table):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46811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 Strengths  (excellent / good): e.g. 'Strong pitch intonation and accuracy'  |  'Excellent rhythmic timing'  |  'Well-controlled note durations'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3504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•  Weaknesses (fair / needs_work): e.g. 'Pitch intonation needs significant improvement'  |  'Significant timing inconsistencies detected'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Pitch Extraction  (models/pitch/)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torchcrepe (primary) or pYIN (fallback) + WebRTC VAD · outputs f̂ₜ, v̂ₜ at 100 fps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4864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80160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78992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133856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 Audio  (16 kHz, mono)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901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11680"/>
            <a:ext cx="548640" cy="804672"/>
          </a:xfrm>
          <a:prstGeom prst="rect">
            <a:avLst/>
          </a:prstGeom>
          <a:solidFill>
            <a:srgbClr val="155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212848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011680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55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66544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WebRTC VAD  (aggressiveness=2, frame=20 ms, smoothing_window=5)
→ voiced_mask at VAD frame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8346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44368"/>
            <a:ext cx="548640" cy="804672"/>
          </a:xfrm>
          <a:prstGeom prst="rect">
            <a:avLst/>
          </a:prstGeom>
          <a:solidFill>
            <a:srgbClr val="0F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14553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44368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F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99232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PitchModelWrapper.predict()
torchcrepe: CREPE-style CNN, Viterbi decoder, periodicity_threshold=0.21
pYIN fallback: librosa.pyin, fmin=65 Hz, fmax=2093 Hz
→ (times, f0_raw, confidence) at 100 fps (hop=160 @ 16 kHz)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7673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77056"/>
            <a:ext cx="548640" cy="804672"/>
          </a:xfrm>
          <a:prstGeom prst="rect">
            <a:avLst/>
          </a:prstGeom>
          <a:solidFill>
            <a:srgbClr val="0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078224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77056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A3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931920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align_vad_to_pitch()  — resample VAD mask to pitch frame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7000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809744"/>
            <a:ext cx="548640" cy="8046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5010912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809744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864607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fuse_vad_and_pitch()  — full VAD-pitch fusion and contour cleaning
1. voiced_final = AND(pitch_voiced, vad_aligned)  →  2. zero unvoiced frames
3. interpolate short gaps (linear, max=10 frames, updates voiced_final)
4. median filter voiced frames (kernel=5)  →  5. Gaussian smooth (σ=1.0)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6327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742431"/>
            <a:ext cx="548640" cy="804672"/>
          </a:xfrm>
          <a:prstGeom prst="rect">
            <a:avLst/>
          </a:prstGeom>
          <a:solidFill>
            <a:srgbClr val="0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5943599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742431"/>
            <a:ext cx="86868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05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97295"/>
            <a:ext cx="85039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Output: timestamps (100 fps), f0 (Hz), voiced (bool)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1078992"/>
            <a:ext cx="2331720" cy="6537960"/>
          </a:xfrm>
          <a:prstGeom prst="rect">
            <a:avLst/>
          </a:prstGeom>
          <a:solidFill>
            <a:srgbClr val="E8F4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1133856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Config
(pitch.yaml)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16276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backend: torchcrepe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3055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hop_length: 160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6334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fmin: 50.0 Hz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13639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fmax: 1000.0 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6393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model_capacity: full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14223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use_viterbi: 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64515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periodicity: 0.21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1480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silence_db: -60.0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565099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VAD agg: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1539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VAD frame: 20 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Onset / Offset Detection  (models/onset_offset/model_v5.py)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Wav2Vec2OnsetDetector  ·  facebook/wav2vec2-base backbone  ·  3-class linear head  ·  50 Hz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1234440" cy="87782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35024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078992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4208" y="1115568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Raw 16 kHz waveform  [B, T_samples]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99616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Audio loaded once by pipeline; passed directly as float32 tensor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103120"/>
            <a:ext cx="1234440" cy="87782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59152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 Extractor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103120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2139696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Wav2Vec2 CNN Feature Extractor  (frozen)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523744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7-layer strided Conv1d stack · total stride = 320 samples → 50 Hz frame rate
freeze_feature_extractor=True  (pretrained weights locked)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9992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127248"/>
            <a:ext cx="1234440" cy="877824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383280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Transformer Encoder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27248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64208" y="3163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96"/>
                </a:solidFill>
              </a:rPr>
              <a:t>Wav2Vec2 12-layer Transformer  (fine-tuned)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3547872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hidden_size=768 · 12 attention heads · dropout=0.1
All transformer layers are updated during 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0233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151376"/>
            <a:ext cx="1234440" cy="877824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407408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Dropout + 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4151376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4187952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Dropout(p=0.1) → Linear(768 →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572000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One shared linear head producing 3 logits per frame:
logits[:, 0] = onset  ·  logits[:, 1] = offset  ·  logits[:, 2] = active (voiced)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504748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175504"/>
            <a:ext cx="1234440" cy="87782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431536"/>
            <a:ext cx="1143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5175504"/>
            <a:ext cx="10424160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64208" y="5212080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{onset_logits, offset_logits, active_logits}  [B, T_frames]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5596128"/>
            <a:ext cx="10195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Apply sigmoid → probabilities · peak-pick → {ŝₙ, êₙ} note boundaries
Frame rate: T_frames = T_samples / 320  @  50 Hz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6263640"/>
            <a:ext cx="11704320" cy="5669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6291072"/>
            <a:ext cx="11475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Training:  fine-tune from facebook/wav2vec2-base  ·  freeze CNN feature extractor  ·  fine-tune transformer layers  ·  BCE loss on 3 heads  ·  pipeline.yaml checkpoint:  checkpoints/best.ckpt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Phoneme Boundary Detection  (models/phoneme/phoneme_model.py)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facebook/wav2vec2-lv-60-espeak-cv-ft  ·  CTC alignment  ·  post-processing  ·  50 Hz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548640" cy="786384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710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789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1247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 Audio  (16 kHz, mono)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836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93391"/>
            <a:ext cx="548640" cy="786384"/>
          </a:xfrm>
          <a:prstGeom prst="rect">
            <a:avLst/>
          </a:prstGeom>
          <a:solidFill>
            <a:srgbClr val="5A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1854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19933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5A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391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Wav2Vec2FeatureExtractor  —  CNN preprocessing  (pretrained, eval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79806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07791"/>
            <a:ext cx="548640" cy="786384"/>
          </a:xfrm>
          <a:prstGeom prst="rect">
            <a:avLst/>
          </a:prstGeom>
          <a:solidFill>
            <a:srgbClr val="491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0998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077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491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535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Wav2Vec2 Transformer Encoder  —  contextual audio embeddings
model: facebook/wav2vec2-lv-60-espeak-cv-ft  (60-language multilingual)
tokenizer: Wav2Vec2PhonemeCTCTokenizer  (eSpeak IPA vocabulary)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712463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22191"/>
            <a:ext cx="548640" cy="786384"/>
          </a:xfrm>
          <a:prstGeom prst="rect">
            <a:avLst/>
          </a:prstGeom>
          <a:solidFill>
            <a:srgbClr val="391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01421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22191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391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67911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CTC Argmax Alignment  →  frame-level phoneme token predictions
collapse_repeated_tokens=True · remove_blank_tokens=True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6268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736592"/>
            <a:ext cx="548640" cy="786384"/>
          </a:xfrm>
          <a:prstGeom prst="rect">
            <a:avLst/>
          </a:prstGeom>
          <a:solidFill>
            <a:srgbClr val="290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49286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47365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290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823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Post-processing  (two passes):
1. Split long segments: max_segment_ms=300, min_split_prob=0.25
2. Blank-region scan: insert phonemes missed by CTC blank dominance (min_phoneme_prob=0.05)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55412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650992"/>
            <a:ext cx="548640" cy="786384"/>
          </a:xfrm>
          <a:prstGeom prst="rect">
            <a:avLst/>
          </a:prstGeom>
          <a:solidFill>
            <a:srgbClr val="1A0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5843016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650992"/>
            <a:ext cx="11064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1A0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696712"/>
            <a:ext cx="10881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Output: List[PhonemeSegment(phoneme, start_time, end_time, confidence)]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6537960"/>
            <a:ext cx="11704320" cy="347472"/>
          </a:xfrm>
          <a:prstGeom prst="rect">
            <a:avLst/>
          </a:prstGeom>
          <a:solidFill>
            <a:srgbClr val="E8F0FE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74536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3A5C"/>
                </a:solidFill>
              </a:rPr>
              <a:t>Scored via lyric_metrics.py:  mean_abs_phoneme_boundary_error_ms  =  mean( |onset_deviation_s| × 1000 )  over all PhonemeAlignmentMatch pairs  (onset deviation only, not end-boundary)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Pitch Model  (NanoPitch, Kim submission)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torchcrepe backend · staged curriculum training · 100 clips per SNR condition · GTSinger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Raw Pitch Accuracy (RPA) and Voicing Detection Rate across SNR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5453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508760"/>
            <a:ext cx="10058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154533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VAD Acc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508760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15453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RPA (offline)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508760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3" y="15453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RCA (offline)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508760"/>
            <a:ext cx="10972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3" y="154533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Gross Err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508760"/>
            <a:ext cx="15544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4264" y="154533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Median Cents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508760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5453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RPA (realtime)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508760"/>
            <a:ext cx="182880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1784" y="154533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Med Cents (RT)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892807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19293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-5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1892807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46504" y="192938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1892807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19293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1892807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9663" y="19293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91.3%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1892807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86983" y="192938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1892807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4264" y="192938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56.6 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1892807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38744" y="19293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1892807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192938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53.6 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227685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" y="23134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+0 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2276856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46504" y="23134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2276856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2344" y="2313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276856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9663" y="23134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89.4%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32120" y="2276856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3" y="2313432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10.7%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227685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4264" y="2313432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56.2 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79" y="2276856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38744" y="23134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87.0%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27685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1784" y="2313432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57.2 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660904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" y="26974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+5 dB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91640" y="2660904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46504" y="2697480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2660904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2344" y="26974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2660904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9663" y="26974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20" y="2660904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86983" y="2697480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9.75%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29400" y="2660904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84264" y="2697480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33.7 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2660904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38744" y="26974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88.5%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46919" y="2660904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2697480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35.4 ¢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04495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3464" y="30815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+10 dB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91640" y="3044952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46504" y="308152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96.2%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97480" y="3044952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52344" y="30815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94.2%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14800" y="3044952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69663" y="30815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94.3%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32120" y="3044952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86983" y="3081528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5.8%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29400" y="3044952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684264" y="3081528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15.7 ¢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83879" y="3044952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38744" y="30815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91.6%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46919" y="304495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01784" y="3081528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17.1 ¢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342900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3464" y="34655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+20 dB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691640" y="3429000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46504" y="346557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96.6%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97480" y="342900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52344" y="34655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93.2%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0" y="342900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69663" y="34655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93.2%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32120" y="3429000"/>
            <a:ext cx="10972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86983" y="3465576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6.8%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29400" y="3429000"/>
            <a:ext cx="15544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84264" y="3465576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14.9 ¢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83879" y="342900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38744" y="34655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90.1%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646919" y="3429000"/>
            <a:ext cx="182880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1784" y="3465576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31.5 ¢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381304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3464" y="38496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Clean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91640" y="381304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46504" y="384962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97.9%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97480" y="381304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52344" y="38496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92.5%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14800" y="381304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169663" y="38496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92.8%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32120" y="3813048"/>
            <a:ext cx="1097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86983" y="3849624"/>
            <a:ext cx="987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7.5%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29400" y="381304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84264" y="3849624"/>
            <a:ext cx="1444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14.7 ¢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83879" y="381304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38744" y="38496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90.8%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46919" y="381304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701784" y="3849624"/>
            <a:ext cx="1719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15.8 ¢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4352544"/>
            <a:ext cx="11704320" cy="54864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8600" y="4462272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Key observations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4809744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Best offline RPA: 94.2% at +10 dB SNR — within MIREX competition-level accuracy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8600" y="5157216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Clean audio: median cent error 14.7 ¢ offline — well below the ±50 ¢ coaching tolerance threshold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5504688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Noisy conditions (−5 dB): offline RPA still above 90% — robust to moderate background noise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" y="5852160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Realtime mode trades ~2–3% RPA for lower latency (suitable for streaming / live feedback)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8600" y="6199631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VAD accuracy ≥ 92.7% across all conditions — reliable voiced/unvoiced gating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Note Onset / Offset Detection  (Wav2Vec2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Wav2Vec2OnsetDetector · facebook/wav2vec2-base · GTSinger · 50 ms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15568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Model outputs and their role in the scoring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56032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545336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508760"/>
            <a:ext cx="484632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3784" y="1545336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How it is produced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508760"/>
            <a:ext cx="4297680" cy="804672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0104" y="1545336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Used to compute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313432"/>
            <a:ext cx="2560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2350008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onset_logits  [B, 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313432"/>
            <a:ext cx="4846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3784" y="2350008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Linear(768→3)[:,0] from Wav2Vec2 last_hidden_state
→ sigmoid → peak-pick → ŝₙ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313432"/>
            <a:ext cx="429768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350008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OnsetError · TimingAccuracy · IOI-MAE · DurationError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118104"/>
            <a:ext cx="25603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3154680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offset_logits  [B, 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3118104"/>
            <a:ext cx="484632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43784" y="3154680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Linear(768→3)[:,1] from Wav2Vec2 last_hidden_state
→ sigmoid → peak-pick → êₙ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118104"/>
            <a:ext cx="429768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3154680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OffsetError · DurationError · RelativeDurationError · DurationRatio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922776"/>
            <a:ext cx="2560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3959352"/>
            <a:ext cx="245059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active_logits  [B, 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3922776"/>
            <a:ext cx="484632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43784" y="3959352"/>
            <a:ext cx="47365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Linear(768→3)[:,2] from Wav2Vec2 last_hidden_state
→ sigmoid → voiced activity mask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3922776"/>
            <a:ext cx="429768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104" y="3959352"/>
            <a:ext cx="4187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Supplements VAD for voiced-frame gating during note event construction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041648"/>
            <a:ext cx="1170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Peak-picking post-processing  (shared with all backends)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425696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498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onset_threshold = 0.3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498848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sigmoid probability to register a peak as an onset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937760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0109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offset_threshold = 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5010912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sigmoid probability to register a peak as an offset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5449824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52297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min_distance_frames =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522976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Minimum 3 frames (~60 ms at 50 Hz) between consecutive peaks of the same 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961888"/>
            <a:ext cx="2926080" cy="438912"/>
          </a:xfrm>
          <a:prstGeom prst="rect">
            <a:avLst/>
          </a:prstGeom>
          <a:solidFill>
            <a:srgbClr val="E8F1FB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035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77B4"/>
                </a:solidFill>
              </a:rPr>
              <a:t>pair_onsets_offsets()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6035040"/>
            <a:ext cx="8641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Greedily pair each onset with the nearest subsequent offset → note event list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6492240"/>
            <a:ext cx="1170432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6528816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Frame rate: Wav2Vec2 CNN stride = 320 samples @ 16 kHz  →  50 Hz  (20 ms / frame)  ·  output resampled to 100 fps canonical grid via fusion/alignment.py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Note-Level Pitch Accuracy  (pilot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7-note excerpt · torchcrepe backend · τ = 50¢ · PitchModel_Kim/note_pitch_results.json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170432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NotePitchAcc₅₀  =  85.7%   (6 / 7 notes correct)     Song: 'North Wind Meets the Sea'   Notes: C4 – D4 – E4 – Bb3 – C4 – A3 – D4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81912"/>
            <a:ext cx="5486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1618488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581912"/>
            <a:ext cx="7772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161848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Lyric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581912"/>
            <a:ext cx="12344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9344" y="1618488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Ref MIDI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581912"/>
            <a:ext cx="8686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161848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Ref 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581912"/>
            <a:ext cx="14173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61848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Detected MIDI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581912"/>
            <a:ext cx="132588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9783" y="1618488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Detected 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81912"/>
            <a:ext cx="14630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61848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Median Cents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1581912"/>
            <a:ext cx="100584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161848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Dir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1581912"/>
            <a:ext cx="1188720" cy="384048"/>
          </a:xfrm>
          <a:prstGeom prst="rect">
            <a:avLst/>
          </a:prstGeom>
          <a:solidFill>
            <a:srgbClr val="AEC7E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161848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Correct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965960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" y="200253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1965960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" y="200253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where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965960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9344" y="2002536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C4 (60.0)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1965960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3784" y="200253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261.6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1965960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3" y="200253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59.74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1965960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9783" y="2002536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257.7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965960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200253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−26.1 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1965960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8704" y="200253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1965960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4544" y="200253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350008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" y="2386584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2350008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3" y="238658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235000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09344" y="2386584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D4 (62.0)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88920" y="235000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43784" y="238658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293.7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2350008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12463" y="238658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60.47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4920" y="2350008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9783" y="2386584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268.9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2350008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55664" y="238658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−152.8 ¢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2350008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18704" y="238658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235000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24544" y="2386584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734056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" y="2770632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2734056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3" y="2770632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54480" y="2734056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09344" y="2770632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E4 (64.0)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88920" y="2734056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43784" y="2770632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329.6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2734056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12463" y="2770632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64.08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74920" y="2734056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29783" y="2770632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331.2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2734056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55664" y="2770632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+8.2 ¢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2734056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18704" y="2770632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69680" y="2734056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24544" y="2770632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3118104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" y="3154680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7240" y="3118104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3" y="315468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wind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54480" y="3118104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09344" y="3154680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Bb3 (58.0)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88920" y="311810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43784" y="315468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233.1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0" y="3118104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12463" y="3154680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57.63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74920" y="3118104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29783" y="3154680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228.2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00800" y="3118104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55664" y="315468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−36.8 ¢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63840" y="3118104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18704" y="3154680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Flat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869680" y="3118104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24544" y="3154680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3502152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3464" y="3538728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" y="3502152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103" y="353872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meets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54480" y="3502152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09344" y="3538728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C4 (60.0)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88920" y="3502152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43784" y="353872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261.6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0" y="3502152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12463" y="3538728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60.32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74920" y="3502152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29783" y="3538728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266.6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3502152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55664" y="3538728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+32.5 ¢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863840" y="3502152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918704" y="3538728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69680" y="3502152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24544" y="3538728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3886200"/>
            <a:ext cx="5486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3464" y="3922776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7240" y="3886200"/>
            <a:ext cx="7772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2103" y="392277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the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54480" y="3886200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09344" y="3922776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A3 (57.0)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88920" y="3886200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43784" y="392277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220.0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657600" y="3886200"/>
            <a:ext cx="1417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12463" y="3922776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57.44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074920" y="3886200"/>
            <a:ext cx="1325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29783" y="3922776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225.7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3886200"/>
            <a:ext cx="14630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55664" y="3922776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+44.4 ¢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863840" y="3886200"/>
            <a:ext cx="1005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918704" y="3922776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69680" y="3886200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924544" y="3922776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28600" y="4270248"/>
            <a:ext cx="5486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83464" y="4306824"/>
            <a:ext cx="438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77240" y="4270248"/>
            <a:ext cx="7772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32103" y="430682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sea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554480" y="4270248"/>
            <a:ext cx="12344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09344" y="4306824"/>
            <a:ext cx="1124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D4 (62.0)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88920" y="4270248"/>
            <a:ext cx="8686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843784" y="430682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293.7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657600" y="4270248"/>
            <a:ext cx="14173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12463" y="4306824"/>
            <a:ext cx="1307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62.24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074920" y="4270248"/>
            <a:ext cx="132588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129783" y="4306824"/>
            <a:ext cx="1216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297.7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400800" y="4270248"/>
            <a:ext cx="14630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55664" y="4306824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+23.7 ¢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863840" y="4270248"/>
            <a:ext cx="100584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918704" y="4306824"/>
            <a:ext cx="896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Sharp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869680" y="4270248"/>
            <a:ext cx="1188720" cy="384048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924544" y="4306824"/>
            <a:ext cx="10789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8600" y="4443984"/>
            <a:ext cx="11704320" cy="4572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28600" y="4544568"/>
            <a:ext cx="1170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Observations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28600" y="4901184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Note 2 ('the' – D4): only failure · −152.8 ¢ flat (≈1.5 semitones) on a very short 178 ms note with only 18 voiced frames — insufficient data for reliable median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28600" y="530352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All 6 correct notes are within ±45 ¢ — Note 6 at 44.4 ¢ is the closest to the ±50 ¢ tolerance boundary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8600" y="5705856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Mild systematic bias: flat on longer sustained notes (Notes 1, 4) and sharp on short/fast notes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28600" y="6108192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 Total voiced frames scored: 522 frames across 7 notes — strong voicing detection on this excerpt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Integrated System — VocalCoach_Kim  (7-phase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C7E8"/>
                </a:solidFill>
              </a:rPr>
              <a:t>inference/pipeline.py · UnifiedInferencePipeline.predict(wav, musicxml, textgrid, compute_scores=True)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658368" cy="7132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243584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1078992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11556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Audio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46303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utils/audio.py  |  16 kHz mono, normalize  |  canonical 10 ms frame grid (hop=160)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81051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883664"/>
            <a:ext cx="658368" cy="7132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048256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" y="1883664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192024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77B4"/>
                </a:solidFill>
              </a:rPr>
              <a:t>Pitch + VAD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2677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models/pitch/pipeline.py  |  torchcrepe → f0 (Hz), voiced mask  @  100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615184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688336"/>
            <a:ext cx="658368" cy="713232"/>
          </a:xfrm>
          <a:prstGeom prst="rect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852928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" y="2688336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272491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3D9A"/>
                </a:solidFill>
              </a:rPr>
              <a:t>Phoneme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07238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models/phoneme/phoneme_model.py  |  Wav2Vec2 + CTC  →  List[PhonemeSegment]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419856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493008"/>
            <a:ext cx="658368" cy="713232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657600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" y="3493008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529584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0E"/>
                </a:solidFill>
              </a:rPr>
              <a:t>Onset / Offset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87705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models/onset_offset/model_v5.py  |  Wav2Vec2 → {onset, offset, active} logits  →  peak-pick  →  ŝₙ, êₙ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422452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297680"/>
            <a:ext cx="658368" cy="713232"/>
          </a:xfrm>
          <a:prstGeom prst="rect">
            <a:avLst/>
          </a:prstGeom>
          <a:solidFill>
            <a:srgbClr val="276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462272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" y="4297680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276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4334256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F96"/>
                </a:solidFill>
              </a:rPr>
              <a:t>Feature 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6817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fusion/  |  merge_model_outputs → FrameAlignedFeatures (100fps)  |  build_note_events, build_lyric_events  →  FusedPerformanceRepresentation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502920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102352"/>
            <a:ext cx="658368" cy="713232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5266944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" y="5102352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13892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A02C"/>
                </a:solidFill>
              </a:rPr>
              <a:t>Reference Parsing + Alignment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54864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reference/musicxml_parser + textgrid_parser  →  ReferencePerformanceRepresentation  |  alignment/reference_alignment  →  AlignmentResult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" y="583387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A5C"/>
                </a:solidFill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5907024"/>
            <a:ext cx="658368" cy="713232"/>
          </a:xfrm>
          <a:prstGeom prst="rect">
            <a:avLst/>
          </a:prstGeom>
          <a:solidFill>
            <a:srgbClr val="8C5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6071616"/>
            <a:ext cx="6035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" y="5907024"/>
            <a:ext cx="110002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8C5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5943600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C564B"/>
                </a:solidFill>
              </a:rPr>
              <a:t>Metrics +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62910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metrics/  →  PerformanceMetricsReport  |  scoring/  →  PerformanceScoreReport  |  scoring/interpretation  →  InterpretationSummary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6720840"/>
            <a:ext cx="11704320" cy="49377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67482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 = pipeline.predict(wav, musicxml_path=..., textgrid_path=..., compute_metrics=True, compute_scores=True)  →  result.scores.overall_score  ·  result.interpretation.strengths  ·  result.scores.pitch_score 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